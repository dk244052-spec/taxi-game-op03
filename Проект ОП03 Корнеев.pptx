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6BE680C-168E-21FB-2B4E-09ADD69DBA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3AD95F02-3836-7C5F-4522-93D404E93B1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0950D95B-E34D-694C-C7AE-24407F5C5B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DC88A4-804A-4E5A-B507-4144D56378B5}" type="datetimeFigureOut">
              <a:rPr lang="ru-RU" smtClean="0"/>
              <a:t>24.04.2026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BE5DE050-00F9-919F-037D-61A4A876C6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D716706-958E-525D-6D44-E8DBB9EC68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EA4833-5F14-48A5-9409-BDA415A4B82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178768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F2F732B-4CC4-0FAB-9E09-F635B87BE1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E433EDA-4CCA-E0EB-C01A-B179D80752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7A462E8-323C-9FA0-A83F-B1DDA28F46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DC88A4-804A-4E5A-B507-4144D56378B5}" type="datetimeFigureOut">
              <a:rPr lang="ru-RU" smtClean="0"/>
              <a:t>24.04.2026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87E5C365-2367-2AA8-E713-7A9655DE8B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9A3E77A-A46D-018A-B8CE-41FD029E2A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EA4833-5F14-48A5-9409-BDA415A4B82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921961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6436BF3-6940-B98C-2336-64B211FD6B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519A8D77-F0BF-E975-AE57-72124FF757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75201FB-583E-64A7-F9C0-605B36E99E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DC88A4-804A-4E5A-B507-4144D56378B5}" type="datetimeFigureOut">
              <a:rPr lang="ru-RU" smtClean="0"/>
              <a:t>24.04.2026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3990CB17-14AC-31E6-F860-24FFA16B62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B3BEC55-DDDF-86F0-8E23-E89266F5F0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EA4833-5F14-48A5-9409-BDA415A4B82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586488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CE14F2A-0AC2-4EBD-80F3-D47DF32F55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42E4CBB-C57D-2B02-25EC-C9FEF6294D8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DEC0B617-1D4B-1408-7E7D-D5914FB7F2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FF7AAAC5-ACC5-FF6C-704F-EE151C1274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DC88A4-804A-4E5A-B507-4144D56378B5}" type="datetimeFigureOut">
              <a:rPr lang="ru-RU" smtClean="0"/>
              <a:t>24.04.2026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F30D2AAD-DB01-CD59-9D08-C2C3DDCC57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C1CB300C-D3F3-A582-F0F7-F7B2D7F632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EA4833-5F14-48A5-9409-BDA415A4B82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247152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97F7632-AF5F-BBC1-841A-BB6F902C7C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080CEADA-B163-4A0D-F4A5-3EE9954D6B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81F9B2BD-D3ED-5002-F381-5C06D1084F8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71C551A-1188-427F-E7BD-CBB4D3C80D9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4CC57A7A-A81B-F68F-FC1F-095447F8A0E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3600324D-22B9-89E5-3760-D8E0F59A2B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DC88A4-804A-4E5A-B507-4144D56378B5}" type="datetimeFigureOut">
              <a:rPr lang="ru-RU" smtClean="0"/>
              <a:t>24.04.2026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771EDC66-069A-A780-9D4B-27E6A0814B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B17E8F91-DA5C-5B50-F7C2-EF5F29D23B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EA4833-5F14-48A5-9409-BDA415A4B82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576195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09AA876-B66A-E266-02C4-159D3192FA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4919F975-76B0-F572-EA37-34B7D719A2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DC88A4-804A-4E5A-B507-4144D56378B5}" type="datetimeFigureOut">
              <a:rPr lang="ru-RU" smtClean="0"/>
              <a:t>24.04.2026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8C6274B1-E342-5509-9E72-0A3B94602C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D8AD157-0824-8843-13EB-AC2032CF4D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EA4833-5F14-48A5-9409-BDA415A4B82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941442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5D83C2BE-80EC-F34C-A5B4-D4FC891186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DC88A4-804A-4E5A-B507-4144D56378B5}" type="datetimeFigureOut">
              <a:rPr lang="ru-RU" smtClean="0"/>
              <a:t>24.04.2026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3649F28C-8958-9EBD-1BC5-3697816A82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A1F20621-C154-54CD-CC7A-B34F45ADBF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EA4833-5F14-48A5-9409-BDA415A4B82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363972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B89E513-43B5-D3DA-2F70-F6D64F8CC4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7C801F3-77D1-8D5A-3993-ED530506AF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1835F56-19A9-F8FA-400D-C9FBEDA1358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FAD49C7F-B939-2614-5526-AED5E07FEA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DC88A4-804A-4E5A-B507-4144D56378B5}" type="datetimeFigureOut">
              <a:rPr lang="ru-RU" smtClean="0"/>
              <a:t>24.04.2026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46B6148-EC68-3510-DFA5-B1C45A822E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32D44735-18B4-1D57-72E6-B6A748B038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EA4833-5F14-48A5-9409-BDA415A4B82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743810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2144DD0-9EF5-3DCF-544F-AB6A0F1701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B71F92C9-3396-8B04-9012-998DAE63E94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A7B8B73A-FEDD-177A-8DBE-E6F07975B37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BA5C14E4-5FED-5BC6-CE81-FA426578A7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DC88A4-804A-4E5A-B507-4144D56378B5}" type="datetimeFigureOut">
              <a:rPr lang="ru-RU" smtClean="0"/>
              <a:t>24.04.2026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CF425B6E-7A55-F5B6-E612-ABC45C3CD4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C5D937E6-36D2-406E-62E4-F102F3BCF4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EA4833-5F14-48A5-9409-BDA415A4B82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924693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3BBCB4-C540-C938-D7A6-54C470E581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D0076CF1-C830-4618-41DE-001C60051DB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8659BF5-1D5A-5FA6-7DD9-9B3202C5D0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DC88A4-804A-4E5A-B507-4144D56378B5}" type="datetimeFigureOut">
              <a:rPr lang="ru-RU" smtClean="0"/>
              <a:t>24.04.2026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813DE36F-03D2-55F9-B6CA-C6530D2433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4E2DA79-0C54-F058-7FB0-91B1AF91A5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EA4833-5F14-48A5-9409-BDA415A4B82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114567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3D0A2372-2C0D-ABA3-0DEB-C03603FBD7F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393F2824-E06B-D82C-A404-FC099871681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4F47106F-90BC-C1B6-3E5A-1C6FE61B8E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DC88A4-804A-4E5A-B507-4144D56378B5}" type="datetimeFigureOut">
              <a:rPr lang="ru-RU" smtClean="0"/>
              <a:t>24.04.2026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A212DFB-67E4-2A30-0552-634C9D7684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1D027F6-44E5-2434-218B-78CE409852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EA4833-5F14-48A5-9409-BDA415A4B82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520137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7B9DE9E-BC04-3AD5-F50B-3BC0F0D802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0CD23FFF-0F84-1673-6B6A-3254E487FD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65D73A1-4B78-4423-A1CE-650837006C0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4DC88A4-804A-4E5A-B507-4144D56378B5}" type="datetimeFigureOut">
              <a:rPr lang="ru-RU" smtClean="0"/>
              <a:t>24.04.2026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2CFDE94-1239-F364-B212-0D7939ACCA2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9AE9D5DA-A05D-7309-B2EF-CB197E95A12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5EA4833-5F14-48A5-9409-BDA415A4B82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56001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18873D23-2DCF-4B31-A009-95721C06E8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11">
            <a:extLst>
              <a:ext uri="{FF2B5EF4-FFF2-40B4-BE49-F238E27FC236}">
                <a16:creationId xmlns:a16="http://schemas.microsoft.com/office/drawing/2014/main" id="{C13EF075-D4EF-4929-ADBC-91B27DA199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23" name="Group 13">
            <a:extLst>
              <a:ext uri="{FF2B5EF4-FFF2-40B4-BE49-F238E27FC236}">
                <a16:creationId xmlns:a16="http://schemas.microsoft.com/office/drawing/2014/main" id="{DAA26DFA-AAB2-4973-9C17-16D587C7B1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3F407F11-7321-4BF6-8536-CCE8E34245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4" name="Freeform: Shape 15">
              <a:extLst>
                <a:ext uri="{FF2B5EF4-FFF2-40B4-BE49-F238E27FC236}">
                  <a16:creationId xmlns:a16="http://schemas.microsoft.com/office/drawing/2014/main" id="{06AC5DCC-C3CC-4FD5-AD4E-13A1BE5F7F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5" name="Freeform: Shape 16">
              <a:extLst>
                <a:ext uri="{FF2B5EF4-FFF2-40B4-BE49-F238E27FC236}">
                  <a16:creationId xmlns:a16="http://schemas.microsoft.com/office/drawing/2014/main" id="{4BBCC2F4-EFA7-4AF4-B538-AC4022D90F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6" name="Freeform: Shape 17">
              <a:extLst>
                <a:ext uri="{FF2B5EF4-FFF2-40B4-BE49-F238E27FC236}">
                  <a16:creationId xmlns:a16="http://schemas.microsoft.com/office/drawing/2014/main" id="{2A9D1364-B6A3-44CB-9FBA-C528F0CE90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D93D4B5-8DAB-D408-431E-14670F45C91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80" y="1243013"/>
            <a:ext cx="3855720" cy="437197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/>
            <a:r>
              <a:rPr lang="en-US" sz="2800" kern="1200">
                <a:solidFill>
                  <a:schemeClr val="tx2"/>
                </a:solidFill>
                <a:latin typeface="+mj-lt"/>
                <a:ea typeface="+mj-ea"/>
                <a:cs typeface="+mj-cs"/>
              </a:rPr>
              <a:t>Государственное бюджетное профессиональное образовательное учреждение Московской области</a:t>
            </a:r>
            <a:br>
              <a:rPr lang="en-US" sz="2800" kern="1200">
                <a:solidFill>
                  <a:schemeClr val="tx2"/>
                </a:solidFill>
                <a:latin typeface="+mj-lt"/>
                <a:ea typeface="+mj-ea"/>
                <a:cs typeface="+mj-cs"/>
              </a:rPr>
            </a:br>
            <a:r>
              <a:rPr lang="en-US" sz="2800" kern="1200">
                <a:solidFill>
                  <a:schemeClr val="tx2"/>
                </a:solidFill>
                <a:latin typeface="+mj-lt"/>
                <a:ea typeface="+mj-ea"/>
                <a:cs typeface="+mj-cs"/>
              </a:rPr>
              <a:t>«Физико-технический колледж»</a:t>
            </a:r>
            <a:br>
              <a:rPr lang="en-US" sz="2800" kern="1200">
                <a:solidFill>
                  <a:schemeClr val="tx2"/>
                </a:solidFill>
                <a:latin typeface="+mj-lt"/>
                <a:ea typeface="+mj-ea"/>
                <a:cs typeface="+mj-cs"/>
              </a:rPr>
            </a:br>
            <a:r>
              <a:rPr lang="en-US" sz="2800" kern="1200">
                <a:solidFill>
                  <a:schemeClr val="tx2"/>
                </a:solidFill>
                <a:latin typeface="+mj-lt"/>
                <a:ea typeface="+mj-ea"/>
                <a:cs typeface="+mj-cs"/>
              </a:rPr>
              <a:t>(ГБПОУ МО «Физтех-колледж»)</a:t>
            </a:r>
            <a:br>
              <a:rPr lang="en-US" sz="2800" kern="1200">
                <a:solidFill>
                  <a:schemeClr val="tx2"/>
                </a:solidFill>
                <a:latin typeface="+mj-lt"/>
                <a:ea typeface="+mj-ea"/>
                <a:cs typeface="+mj-cs"/>
              </a:rPr>
            </a:br>
            <a:endParaRPr lang="en-US" sz="2800" kern="1200">
              <a:solidFill>
                <a:schemeClr val="tx2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066B4204-D25D-A4B1-C55D-823D1DF3EBE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72200" y="804672"/>
            <a:ext cx="5221224" cy="523036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/>
            <a:r>
              <a:rPr lang="en-US" sz="1800" b="1" dirty="0">
                <a:solidFill>
                  <a:schemeClr val="tx2"/>
                </a:solidFill>
              </a:rPr>
              <a:t>ИНДИВИДУАЛЬНЫЙ ПРОЕКТ ПО ТЕМЕ «РАЗРАБОТКА ИГРЫ « ТАКСИСТ»»</a:t>
            </a:r>
            <a:br>
              <a:rPr lang="ru-RU" sz="1800" b="1" dirty="0">
                <a:solidFill>
                  <a:schemeClr val="tx2"/>
                </a:solidFill>
              </a:rPr>
            </a:br>
            <a:br>
              <a:rPr lang="en-US" sz="1800" dirty="0">
                <a:solidFill>
                  <a:schemeClr val="tx2"/>
                </a:solidFill>
              </a:rPr>
            </a:br>
            <a:r>
              <a:rPr lang="en-US" sz="1800" b="1" dirty="0">
                <a:solidFill>
                  <a:schemeClr val="tx2"/>
                </a:solidFill>
              </a:rPr>
              <a:t>ВЫПОЛНИЛ:</a:t>
            </a:r>
          </a:p>
          <a:p>
            <a:pPr marL="0" indent="-228600" algn="l">
              <a:buFont typeface="Arial" panose="020B0604020202020204" pitchFamily="34" charset="0"/>
              <a:buChar char="•"/>
            </a:pPr>
            <a:r>
              <a:rPr lang="en-US" sz="1800" b="1" dirty="0">
                <a:solidFill>
                  <a:schemeClr val="tx2"/>
                </a:solidFill>
              </a:rPr>
              <a:t>СТУДЕНТ 2 КУРСА ГРУППЫ ИБ-41</a:t>
            </a:r>
          </a:p>
          <a:p>
            <a:pPr marL="0" indent="-228600" algn="l">
              <a:buFont typeface="Arial" panose="020B0604020202020204" pitchFamily="34" charset="0"/>
              <a:buChar char="•"/>
            </a:pPr>
            <a:r>
              <a:rPr lang="en-US" sz="1800" b="1" dirty="0">
                <a:solidFill>
                  <a:schemeClr val="tx2"/>
                </a:solidFill>
              </a:rPr>
              <a:t>КОРНЕЕВ ДМИТРИЙ ВЛАДИМИРОВИЧ</a:t>
            </a:r>
          </a:p>
          <a:p>
            <a:pPr marL="0" indent="-228600" algn="l">
              <a:buFont typeface="Arial" panose="020B0604020202020204" pitchFamily="34" charset="0"/>
              <a:buChar char="•"/>
            </a:pPr>
            <a:r>
              <a:rPr lang="en-US" sz="1800" b="1" dirty="0">
                <a:solidFill>
                  <a:schemeClr val="tx2"/>
                </a:solidFill>
              </a:rPr>
              <a:t>ПРЕПОДАВАТЕЛЬ:</a:t>
            </a:r>
          </a:p>
          <a:p>
            <a:pPr marL="0" indent="-228600" algn="l">
              <a:buFont typeface="Arial" panose="020B0604020202020204" pitchFamily="34" charset="0"/>
              <a:buChar char="•"/>
            </a:pPr>
            <a:r>
              <a:rPr lang="en-US" sz="1800" b="1" dirty="0">
                <a:solidFill>
                  <a:schemeClr val="tx2"/>
                </a:solidFill>
              </a:rPr>
              <a:t>ЛИПАТНИКОВА НАДЕЖДА МИХАЙЛОВНА</a:t>
            </a:r>
          </a:p>
          <a:p>
            <a:pPr marL="0" indent="-228600" algn="l">
              <a:buFont typeface="Arial" panose="020B0604020202020204" pitchFamily="34" charset="0"/>
              <a:buChar char="•"/>
            </a:pPr>
            <a:endParaRPr lang="en-US" sz="1800" b="1" dirty="0">
              <a:solidFill>
                <a:schemeClr val="tx2"/>
              </a:solidFill>
            </a:endParaRPr>
          </a:p>
          <a:p>
            <a:pPr marL="0" indent="-228600" algn="l">
              <a:buFont typeface="Arial" panose="020B0604020202020204" pitchFamily="34" charset="0"/>
              <a:buChar char="•"/>
            </a:pPr>
            <a:endParaRPr lang="en-US" sz="1800" b="1" dirty="0">
              <a:solidFill>
                <a:schemeClr val="tx2"/>
              </a:solidFill>
            </a:endParaRPr>
          </a:p>
          <a:p>
            <a:pPr algn="l"/>
            <a:endParaRPr lang="en-US" sz="1800" b="1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65616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777A147A-9ED8-46B4-8660-1B3C2AA880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60A6759-C807-A5E8-2B97-CF001110EB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548640"/>
            <a:ext cx="3600860" cy="5431536"/>
          </a:xfrm>
        </p:spPr>
        <p:txBody>
          <a:bodyPr>
            <a:normAutofit/>
          </a:bodyPr>
          <a:lstStyle/>
          <a:p>
            <a:r>
              <a:rPr lang="ru-RU" sz="4200" b="1">
                <a:effectLst/>
                <a:latin typeface="quote-cjk-patch"/>
              </a:rPr>
              <a:t>Актуальность и проблема</a:t>
            </a:r>
            <a:br>
              <a:rPr lang="ru-RU" sz="4200" b="1">
                <a:effectLst/>
                <a:latin typeface="quote-cjk-patch"/>
              </a:rPr>
            </a:br>
            <a:endParaRPr lang="ru-RU" sz="4200"/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5D6C15A0-C087-4593-8414-2B4EC1CDC3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2543983" y="3258715"/>
            <a:ext cx="4480560" cy="18288"/>
          </a:xfrm>
          <a:custGeom>
            <a:avLst/>
            <a:gdLst>
              <a:gd name="connsiteX0" fmla="*/ 0 w 4480560"/>
              <a:gd name="connsiteY0" fmla="*/ 0 h 18288"/>
              <a:gd name="connsiteX1" fmla="*/ 595274 w 4480560"/>
              <a:gd name="connsiteY1" fmla="*/ 0 h 18288"/>
              <a:gd name="connsiteX2" fmla="*/ 1100938 w 4480560"/>
              <a:gd name="connsiteY2" fmla="*/ 0 h 18288"/>
              <a:gd name="connsiteX3" fmla="*/ 1651406 w 4480560"/>
              <a:gd name="connsiteY3" fmla="*/ 0 h 18288"/>
              <a:gd name="connsiteX4" fmla="*/ 2336292 w 4480560"/>
              <a:gd name="connsiteY4" fmla="*/ 0 h 18288"/>
              <a:gd name="connsiteX5" fmla="*/ 2931566 w 4480560"/>
              <a:gd name="connsiteY5" fmla="*/ 0 h 18288"/>
              <a:gd name="connsiteX6" fmla="*/ 3482035 w 4480560"/>
              <a:gd name="connsiteY6" fmla="*/ 0 h 18288"/>
              <a:gd name="connsiteX7" fmla="*/ 4480560 w 4480560"/>
              <a:gd name="connsiteY7" fmla="*/ 0 h 18288"/>
              <a:gd name="connsiteX8" fmla="*/ 4480560 w 4480560"/>
              <a:gd name="connsiteY8" fmla="*/ 18288 h 18288"/>
              <a:gd name="connsiteX9" fmla="*/ 3840480 w 4480560"/>
              <a:gd name="connsiteY9" fmla="*/ 18288 h 18288"/>
              <a:gd name="connsiteX10" fmla="*/ 3290011 w 4480560"/>
              <a:gd name="connsiteY10" fmla="*/ 18288 h 18288"/>
              <a:gd name="connsiteX11" fmla="*/ 2560320 w 4480560"/>
              <a:gd name="connsiteY11" fmla="*/ 18288 h 18288"/>
              <a:gd name="connsiteX12" fmla="*/ 1965046 w 4480560"/>
              <a:gd name="connsiteY12" fmla="*/ 18288 h 18288"/>
              <a:gd name="connsiteX13" fmla="*/ 1459382 w 4480560"/>
              <a:gd name="connsiteY13" fmla="*/ 18288 h 18288"/>
              <a:gd name="connsiteX14" fmla="*/ 774497 w 4480560"/>
              <a:gd name="connsiteY14" fmla="*/ 18288 h 18288"/>
              <a:gd name="connsiteX15" fmla="*/ 0 w 4480560"/>
              <a:gd name="connsiteY15" fmla="*/ 18288 h 18288"/>
              <a:gd name="connsiteX16" fmla="*/ 0 w 4480560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480560" h="18288" fill="none" extrusionOk="0">
                <a:moveTo>
                  <a:pt x="0" y="0"/>
                </a:moveTo>
                <a:cubicBezTo>
                  <a:pt x="267821" y="8731"/>
                  <a:pt x="334105" y="2629"/>
                  <a:pt x="595274" y="0"/>
                </a:cubicBezTo>
                <a:cubicBezTo>
                  <a:pt x="856443" y="-2629"/>
                  <a:pt x="863808" y="-13353"/>
                  <a:pt x="1100938" y="0"/>
                </a:cubicBezTo>
                <a:cubicBezTo>
                  <a:pt x="1338068" y="13353"/>
                  <a:pt x="1431663" y="-25862"/>
                  <a:pt x="1651406" y="0"/>
                </a:cubicBezTo>
                <a:cubicBezTo>
                  <a:pt x="1871149" y="25862"/>
                  <a:pt x="2173163" y="23827"/>
                  <a:pt x="2336292" y="0"/>
                </a:cubicBezTo>
                <a:cubicBezTo>
                  <a:pt x="2499421" y="-23827"/>
                  <a:pt x="2720589" y="28148"/>
                  <a:pt x="2931566" y="0"/>
                </a:cubicBezTo>
                <a:cubicBezTo>
                  <a:pt x="3142543" y="-28148"/>
                  <a:pt x="3323630" y="27022"/>
                  <a:pt x="3482035" y="0"/>
                </a:cubicBezTo>
                <a:cubicBezTo>
                  <a:pt x="3640440" y="-27022"/>
                  <a:pt x="4012110" y="-20118"/>
                  <a:pt x="4480560" y="0"/>
                </a:cubicBezTo>
                <a:cubicBezTo>
                  <a:pt x="4480958" y="7429"/>
                  <a:pt x="4480540" y="10822"/>
                  <a:pt x="4480560" y="18288"/>
                </a:cubicBezTo>
                <a:cubicBezTo>
                  <a:pt x="4314132" y="14924"/>
                  <a:pt x="4028383" y="36632"/>
                  <a:pt x="3840480" y="18288"/>
                </a:cubicBezTo>
                <a:cubicBezTo>
                  <a:pt x="3652577" y="-56"/>
                  <a:pt x="3547615" y="2848"/>
                  <a:pt x="3290011" y="18288"/>
                </a:cubicBezTo>
                <a:cubicBezTo>
                  <a:pt x="3032407" y="33728"/>
                  <a:pt x="2830268" y="8719"/>
                  <a:pt x="2560320" y="18288"/>
                </a:cubicBezTo>
                <a:cubicBezTo>
                  <a:pt x="2290372" y="27857"/>
                  <a:pt x="2147422" y="6728"/>
                  <a:pt x="1965046" y="18288"/>
                </a:cubicBezTo>
                <a:cubicBezTo>
                  <a:pt x="1782670" y="29848"/>
                  <a:pt x="1689791" y="40680"/>
                  <a:pt x="1459382" y="18288"/>
                </a:cubicBezTo>
                <a:cubicBezTo>
                  <a:pt x="1228973" y="-4104"/>
                  <a:pt x="915486" y="36501"/>
                  <a:pt x="774497" y="18288"/>
                </a:cubicBezTo>
                <a:cubicBezTo>
                  <a:pt x="633508" y="75"/>
                  <a:pt x="361442" y="-11107"/>
                  <a:pt x="0" y="18288"/>
                </a:cubicBezTo>
                <a:cubicBezTo>
                  <a:pt x="-591" y="13205"/>
                  <a:pt x="-663" y="6329"/>
                  <a:pt x="0" y="0"/>
                </a:cubicBezTo>
                <a:close/>
              </a:path>
              <a:path w="4480560" h="18288" stroke="0" extrusionOk="0">
                <a:moveTo>
                  <a:pt x="0" y="0"/>
                </a:moveTo>
                <a:cubicBezTo>
                  <a:pt x="285465" y="225"/>
                  <a:pt x="322691" y="16223"/>
                  <a:pt x="595274" y="0"/>
                </a:cubicBezTo>
                <a:cubicBezTo>
                  <a:pt x="867857" y="-16223"/>
                  <a:pt x="989129" y="-11242"/>
                  <a:pt x="1100938" y="0"/>
                </a:cubicBezTo>
                <a:cubicBezTo>
                  <a:pt x="1212747" y="11242"/>
                  <a:pt x="1574350" y="-36410"/>
                  <a:pt x="1830629" y="0"/>
                </a:cubicBezTo>
                <a:cubicBezTo>
                  <a:pt x="2086908" y="36410"/>
                  <a:pt x="2180922" y="4645"/>
                  <a:pt x="2425903" y="0"/>
                </a:cubicBezTo>
                <a:cubicBezTo>
                  <a:pt x="2670884" y="-4645"/>
                  <a:pt x="2782024" y="22929"/>
                  <a:pt x="3021178" y="0"/>
                </a:cubicBezTo>
                <a:cubicBezTo>
                  <a:pt x="3260332" y="-22929"/>
                  <a:pt x="3456982" y="-1586"/>
                  <a:pt x="3750869" y="0"/>
                </a:cubicBezTo>
                <a:cubicBezTo>
                  <a:pt x="4044756" y="1586"/>
                  <a:pt x="4302726" y="17043"/>
                  <a:pt x="4480560" y="0"/>
                </a:cubicBezTo>
                <a:cubicBezTo>
                  <a:pt x="4479674" y="5429"/>
                  <a:pt x="4481381" y="14046"/>
                  <a:pt x="4480560" y="18288"/>
                </a:cubicBezTo>
                <a:cubicBezTo>
                  <a:pt x="4279652" y="-6850"/>
                  <a:pt x="4200762" y="41566"/>
                  <a:pt x="3930091" y="18288"/>
                </a:cubicBezTo>
                <a:cubicBezTo>
                  <a:pt x="3659420" y="-4990"/>
                  <a:pt x="3456052" y="22294"/>
                  <a:pt x="3290011" y="18288"/>
                </a:cubicBezTo>
                <a:cubicBezTo>
                  <a:pt x="3123970" y="14282"/>
                  <a:pt x="2882392" y="32818"/>
                  <a:pt x="2649931" y="18288"/>
                </a:cubicBezTo>
                <a:cubicBezTo>
                  <a:pt x="2417470" y="3758"/>
                  <a:pt x="2238426" y="7337"/>
                  <a:pt x="2054657" y="18288"/>
                </a:cubicBezTo>
                <a:cubicBezTo>
                  <a:pt x="1870888" y="29239"/>
                  <a:pt x="1566368" y="45040"/>
                  <a:pt x="1324966" y="18288"/>
                </a:cubicBezTo>
                <a:cubicBezTo>
                  <a:pt x="1083564" y="-8464"/>
                  <a:pt x="787410" y="10946"/>
                  <a:pt x="595274" y="18288"/>
                </a:cubicBezTo>
                <a:cubicBezTo>
                  <a:pt x="403138" y="25630"/>
                  <a:pt x="169622" y="10499"/>
                  <a:pt x="0" y="18288"/>
                </a:cubicBezTo>
                <a:cubicBezTo>
                  <a:pt x="668" y="13665"/>
                  <a:pt x="578" y="5675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BB821D5-96D7-FAAC-E472-52E22EAA6F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26418" y="552091"/>
            <a:ext cx="6224335" cy="5431536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ru-RU" sz="2200" b="1" i="0">
                <a:effectLst/>
                <a:latin typeface="quote-cjk-patch"/>
              </a:rPr>
              <a:t>Проблема:</a:t>
            </a:r>
            <a:br>
              <a:rPr lang="ru-RU" sz="2200" b="0" i="0">
                <a:effectLst/>
                <a:latin typeface="quote-cjk-patch"/>
              </a:rPr>
            </a:br>
            <a:r>
              <a:rPr lang="ru-RU" sz="2200" b="0" i="0">
                <a:effectLst/>
                <a:latin typeface="quote-cjk-patch"/>
              </a:rPr>
              <a:t>Сложные игры требуют мощных компьютеров. Простые логические игры всегда востребованы.</a:t>
            </a:r>
          </a:p>
          <a:p>
            <a:pPr marL="0" indent="0">
              <a:buNone/>
            </a:pPr>
            <a:r>
              <a:rPr lang="ru-RU" sz="2200" b="1" i="0">
                <a:effectLst/>
                <a:latin typeface="quote-cjk-patch"/>
              </a:rPr>
              <a:t>Цель:</a:t>
            </a:r>
            <a:br>
              <a:rPr lang="ru-RU" sz="2200" b="0" i="0">
                <a:effectLst/>
                <a:latin typeface="quote-cjk-patch"/>
              </a:rPr>
            </a:br>
            <a:r>
              <a:rPr lang="ru-RU" sz="2200" b="0" i="0">
                <a:effectLst/>
                <a:latin typeface="quote-cjk-patch"/>
              </a:rPr>
              <a:t>Создать игру «Таксист» с графическим интерфейсом, логированием и подсчётом очков.</a:t>
            </a:r>
          </a:p>
          <a:p>
            <a:pPr marL="0" indent="0">
              <a:buNone/>
            </a:pPr>
            <a:r>
              <a:rPr lang="ru-RU" sz="2200" b="1" i="0">
                <a:effectLst/>
                <a:latin typeface="quote-cjk-patch"/>
              </a:rPr>
              <a:t>Аудитория:</a:t>
            </a:r>
            <a:br>
              <a:rPr lang="ru-RU" sz="2200" b="0" i="0">
                <a:effectLst/>
                <a:latin typeface="quote-cjk-patch"/>
              </a:rPr>
            </a:br>
            <a:r>
              <a:rPr lang="ru-RU" sz="2200" b="0" i="0">
                <a:effectLst/>
                <a:latin typeface="quote-cjk-patch"/>
              </a:rPr>
              <a:t>Школьники, студенты, взрослые (12–40 лет).</a:t>
            </a:r>
          </a:p>
          <a:p>
            <a:pPr marL="0" indent="0">
              <a:buNone/>
            </a:pPr>
            <a:endParaRPr lang="ru-RU" sz="2200"/>
          </a:p>
        </p:txBody>
      </p:sp>
    </p:spTree>
    <p:extLst>
      <p:ext uri="{BB962C8B-B14F-4D97-AF65-F5344CB8AC3E}">
        <p14:creationId xmlns:p14="http://schemas.microsoft.com/office/powerpoint/2010/main" val="41148341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45D37F4E-DDB4-456B-97E0-9937730A03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8FE48BA-52E3-C399-FC82-EAC6F0E321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493" y="238539"/>
            <a:ext cx="11018520" cy="1434415"/>
          </a:xfrm>
        </p:spPr>
        <p:txBody>
          <a:bodyPr anchor="b">
            <a:normAutofit/>
          </a:bodyPr>
          <a:lstStyle/>
          <a:p>
            <a:r>
              <a:rPr lang="en-US" sz="5400" b="1">
                <a:effectLst/>
                <a:latin typeface="quote-cjk-patch"/>
              </a:rPr>
              <a:t> Use Case </a:t>
            </a:r>
            <a:r>
              <a:rPr lang="ru-RU" sz="5400" b="1">
                <a:effectLst/>
                <a:latin typeface="quote-cjk-patch"/>
              </a:rPr>
              <a:t>диаграмма</a:t>
            </a:r>
            <a:endParaRPr lang="ru-RU" sz="5400"/>
          </a:p>
        </p:txBody>
      </p:sp>
      <p:sp>
        <p:nvSpPr>
          <p:cNvPr id="14" name="sketchy line">
            <a:extLst>
              <a:ext uri="{FF2B5EF4-FFF2-40B4-BE49-F238E27FC236}">
                <a16:creationId xmlns:a16="http://schemas.microsoft.com/office/drawing/2014/main" id="{B2DD41CD-8F47-4F56-AD12-4E2FF76969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72493" y="1681544"/>
            <a:ext cx="10972800" cy="18288"/>
          </a:xfrm>
          <a:custGeom>
            <a:avLst/>
            <a:gdLst>
              <a:gd name="connsiteX0" fmla="*/ 0 w 10972800"/>
              <a:gd name="connsiteY0" fmla="*/ 0 h 18288"/>
              <a:gd name="connsiteX1" fmla="*/ 356616 w 10972800"/>
              <a:gd name="connsiteY1" fmla="*/ 0 h 18288"/>
              <a:gd name="connsiteX2" fmla="*/ 1042416 w 10972800"/>
              <a:gd name="connsiteY2" fmla="*/ 0 h 18288"/>
              <a:gd name="connsiteX3" fmla="*/ 1947672 w 10972800"/>
              <a:gd name="connsiteY3" fmla="*/ 0 h 18288"/>
              <a:gd name="connsiteX4" fmla="*/ 2633472 w 10972800"/>
              <a:gd name="connsiteY4" fmla="*/ 0 h 18288"/>
              <a:gd name="connsiteX5" fmla="*/ 2990088 w 10972800"/>
              <a:gd name="connsiteY5" fmla="*/ 0 h 18288"/>
              <a:gd name="connsiteX6" fmla="*/ 3456432 w 10972800"/>
              <a:gd name="connsiteY6" fmla="*/ 0 h 18288"/>
              <a:gd name="connsiteX7" fmla="*/ 4361688 w 10972800"/>
              <a:gd name="connsiteY7" fmla="*/ 0 h 18288"/>
              <a:gd name="connsiteX8" fmla="*/ 5266944 w 10972800"/>
              <a:gd name="connsiteY8" fmla="*/ 0 h 18288"/>
              <a:gd name="connsiteX9" fmla="*/ 6172200 w 10972800"/>
              <a:gd name="connsiteY9" fmla="*/ 0 h 18288"/>
              <a:gd name="connsiteX10" fmla="*/ 6528816 w 10972800"/>
              <a:gd name="connsiteY10" fmla="*/ 0 h 18288"/>
              <a:gd name="connsiteX11" fmla="*/ 7214616 w 10972800"/>
              <a:gd name="connsiteY11" fmla="*/ 0 h 18288"/>
              <a:gd name="connsiteX12" fmla="*/ 7790688 w 10972800"/>
              <a:gd name="connsiteY12" fmla="*/ 0 h 18288"/>
              <a:gd name="connsiteX13" fmla="*/ 8147304 w 10972800"/>
              <a:gd name="connsiteY13" fmla="*/ 0 h 18288"/>
              <a:gd name="connsiteX14" fmla="*/ 9052560 w 10972800"/>
              <a:gd name="connsiteY14" fmla="*/ 0 h 18288"/>
              <a:gd name="connsiteX15" fmla="*/ 9409176 w 10972800"/>
              <a:gd name="connsiteY15" fmla="*/ 0 h 18288"/>
              <a:gd name="connsiteX16" fmla="*/ 9765792 w 10972800"/>
              <a:gd name="connsiteY16" fmla="*/ 0 h 18288"/>
              <a:gd name="connsiteX17" fmla="*/ 10341864 w 10972800"/>
              <a:gd name="connsiteY17" fmla="*/ 0 h 18288"/>
              <a:gd name="connsiteX18" fmla="*/ 10972800 w 10972800"/>
              <a:gd name="connsiteY18" fmla="*/ 0 h 18288"/>
              <a:gd name="connsiteX19" fmla="*/ 10972800 w 10972800"/>
              <a:gd name="connsiteY19" fmla="*/ 18288 h 18288"/>
              <a:gd name="connsiteX20" fmla="*/ 10177272 w 10972800"/>
              <a:gd name="connsiteY20" fmla="*/ 18288 h 18288"/>
              <a:gd name="connsiteX21" fmla="*/ 9820656 w 10972800"/>
              <a:gd name="connsiteY21" fmla="*/ 18288 h 18288"/>
              <a:gd name="connsiteX22" fmla="*/ 9464040 w 10972800"/>
              <a:gd name="connsiteY22" fmla="*/ 18288 h 18288"/>
              <a:gd name="connsiteX23" fmla="*/ 8778240 w 10972800"/>
              <a:gd name="connsiteY23" fmla="*/ 18288 h 18288"/>
              <a:gd name="connsiteX24" fmla="*/ 8421624 w 10972800"/>
              <a:gd name="connsiteY24" fmla="*/ 18288 h 18288"/>
              <a:gd name="connsiteX25" fmla="*/ 7735824 w 10972800"/>
              <a:gd name="connsiteY25" fmla="*/ 18288 h 18288"/>
              <a:gd name="connsiteX26" fmla="*/ 6940296 w 10972800"/>
              <a:gd name="connsiteY26" fmla="*/ 18288 h 18288"/>
              <a:gd name="connsiteX27" fmla="*/ 6254496 w 10972800"/>
              <a:gd name="connsiteY27" fmla="*/ 18288 h 18288"/>
              <a:gd name="connsiteX28" fmla="*/ 5458968 w 10972800"/>
              <a:gd name="connsiteY28" fmla="*/ 18288 h 18288"/>
              <a:gd name="connsiteX29" fmla="*/ 4663440 w 10972800"/>
              <a:gd name="connsiteY29" fmla="*/ 18288 h 18288"/>
              <a:gd name="connsiteX30" fmla="*/ 4306824 w 10972800"/>
              <a:gd name="connsiteY30" fmla="*/ 18288 h 18288"/>
              <a:gd name="connsiteX31" fmla="*/ 3840480 w 10972800"/>
              <a:gd name="connsiteY31" fmla="*/ 18288 h 18288"/>
              <a:gd name="connsiteX32" fmla="*/ 3264408 w 10972800"/>
              <a:gd name="connsiteY32" fmla="*/ 18288 h 18288"/>
              <a:gd name="connsiteX33" fmla="*/ 2578608 w 10972800"/>
              <a:gd name="connsiteY33" fmla="*/ 18288 h 18288"/>
              <a:gd name="connsiteX34" fmla="*/ 1673352 w 10972800"/>
              <a:gd name="connsiteY34" fmla="*/ 18288 h 18288"/>
              <a:gd name="connsiteX35" fmla="*/ 877824 w 10972800"/>
              <a:gd name="connsiteY35" fmla="*/ 18288 h 18288"/>
              <a:gd name="connsiteX36" fmla="*/ 0 w 10972800"/>
              <a:gd name="connsiteY36" fmla="*/ 18288 h 18288"/>
              <a:gd name="connsiteX37" fmla="*/ 0 w 10972800"/>
              <a:gd name="connsiteY37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</a:cxnLst>
            <a:rect l="l" t="t" r="r" b="b"/>
            <a:pathLst>
              <a:path w="10972800" h="18288" fill="none" extrusionOk="0">
                <a:moveTo>
                  <a:pt x="0" y="0"/>
                </a:moveTo>
                <a:cubicBezTo>
                  <a:pt x="165916" y="-1866"/>
                  <a:pt x="188720" y="13756"/>
                  <a:pt x="356616" y="0"/>
                </a:cubicBezTo>
                <a:cubicBezTo>
                  <a:pt x="524512" y="-13756"/>
                  <a:pt x="734781" y="8922"/>
                  <a:pt x="1042416" y="0"/>
                </a:cubicBezTo>
                <a:cubicBezTo>
                  <a:pt x="1350051" y="-8922"/>
                  <a:pt x="1595982" y="-26315"/>
                  <a:pt x="1947672" y="0"/>
                </a:cubicBezTo>
                <a:cubicBezTo>
                  <a:pt x="2299362" y="26315"/>
                  <a:pt x="2292691" y="-19526"/>
                  <a:pt x="2633472" y="0"/>
                </a:cubicBezTo>
                <a:cubicBezTo>
                  <a:pt x="2974253" y="19526"/>
                  <a:pt x="2857309" y="10773"/>
                  <a:pt x="2990088" y="0"/>
                </a:cubicBezTo>
                <a:cubicBezTo>
                  <a:pt x="3122867" y="-10773"/>
                  <a:pt x="3359343" y="7194"/>
                  <a:pt x="3456432" y="0"/>
                </a:cubicBezTo>
                <a:cubicBezTo>
                  <a:pt x="3553521" y="-7194"/>
                  <a:pt x="4136258" y="5108"/>
                  <a:pt x="4361688" y="0"/>
                </a:cubicBezTo>
                <a:cubicBezTo>
                  <a:pt x="4587118" y="-5108"/>
                  <a:pt x="4992424" y="-42958"/>
                  <a:pt x="5266944" y="0"/>
                </a:cubicBezTo>
                <a:cubicBezTo>
                  <a:pt x="5541464" y="42958"/>
                  <a:pt x="5882966" y="-3430"/>
                  <a:pt x="6172200" y="0"/>
                </a:cubicBezTo>
                <a:cubicBezTo>
                  <a:pt x="6461434" y="3430"/>
                  <a:pt x="6432127" y="6688"/>
                  <a:pt x="6528816" y="0"/>
                </a:cubicBezTo>
                <a:cubicBezTo>
                  <a:pt x="6625505" y="-6688"/>
                  <a:pt x="6916805" y="-436"/>
                  <a:pt x="7214616" y="0"/>
                </a:cubicBezTo>
                <a:cubicBezTo>
                  <a:pt x="7512427" y="436"/>
                  <a:pt x="7626159" y="-6909"/>
                  <a:pt x="7790688" y="0"/>
                </a:cubicBezTo>
                <a:cubicBezTo>
                  <a:pt x="7955217" y="6909"/>
                  <a:pt x="8048891" y="15307"/>
                  <a:pt x="8147304" y="0"/>
                </a:cubicBezTo>
                <a:cubicBezTo>
                  <a:pt x="8245717" y="-15307"/>
                  <a:pt x="8645618" y="-11734"/>
                  <a:pt x="9052560" y="0"/>
                </a:cubicBezTo>
                <a:cubicBezTo>
                  <a:pt x="9459502" y="11734"/>
                  <a:pt x="9320584" y="8388"/>
                  <a:pt x="9409176" y="0"/>
                </a:cubicBezTo>
                <a:cubicBezTo>
                  <a:pt x="9497768" y="-8388"/>
                  <a:pt x="9644192" y="8379"/>
                  <a:pt x="9765792" y="0"/>
                </a:cubicBezTo>
                <a:cubicBezTo>
                  <a:pt x="9887392" y="-8379"/>
                  <a:pt x="10105220" y="-12663"/>
                  <a:pt x="10341864" y="0"/>
                </a:cubicBezTo>
                <a:cubicBezTo>
                  <a:pt x="10578508" y="12663"/>
                  <a:pt x="10773103" y="-5786"/>
                  <a:pt x="10972800" y="0"/>
                </a:cubicBezTo>
                <a:cubicBezTo>
                  <a:pt x="10972146" y="8818"/>
                  <a:pt x="10972240" y="13823"/>
                  <a:pt x="10972800" y="18288"/>
                </a:cubicBezTo>
                <a:cubicBezTo>
                  <a:pt x="10588778" y="31598"/>
                  <a:pt x="10543381" y="-12698"/>
                  <a:pt x="10177272" y="18288"/>
                </a:cubicBezTo>
                <a:cubicBezTo>
                  <a:pt x="9811163" y="49274"/>
                  <a:pt x="9996817" y="25662"/>
                  <a:pt x="9820656" y="18288"/>
                </a:cubicBezTo>
                <a:cubicBezTo>
                  <a:pt x="9644495" y="10914"/>
                  <a:pt x="9607007" y="31631"/>
                  <a:pt x="9464040" y="18288"/>
                </a:cubicBezTo>
                <a:cubicBezTo>
                  <a:pt x="9321073" y="4945"/>
                  <a:pt x="9114189" y="28940"/>
                  <a:pt x="8778240" y="18288"/>
                </a:cubicBezTo>
                <a:cubicBezTo>
                  <a:pt x="8442291" y="7636"/>
                  <a:pt x="8594763" y="987"/>
                  <a:pt x="8421624" y="18288"/>
                </a:cubicBezTo>
                <a:cubicBezTo>
                  <a:pt x="8248485" y="35589"/>
                  <a:pt x="7929515" y="37573"/>
                  <a:pt x="7735824" y="18288"/>
                </a:cubicBezTo>
                <a:cubicBezTo>
                  <a:pt x="7542133" y="-997"/>
                  <a:pt x="7252504" y="33858"/>
                  <a:pt x="6940296" y="18288"/>
                </a:cubicBezTo>
                <a:cubicBezTo>
                  <a:pt x="6628088" y="2718"/>
                  <a:pt x="6528503" y="48389"/>
                  <a:pt x="6254496" y="18288"/>
                </a:cubicBezTo>
                <a:cubicBezTo>
                  <a:pt x="5980489" y="-11813"/>
                  <a:pt x="5695784" y="-3740"/>
                  <a:pt x="5458968" y="18288"/>
                </a:cubicBezTo>
                <a:cubicBezTo>
                  <a:pt x="5222152" y="40316"/>
                  <a:pt x="5010751" y="19095"/>
                  <a:pt x="4663440" y="18288"/>
                </a:cubicBezTo>
                <a:cubicBezTo>
                  <a:pt x="4316129" y="17481"/>
                  <a:pt x="4425552" y="1606"/>
                  <a:pt x="4306824" y="18288"/>
                </a:cubicBezTo>
                <a:cubicBezTo>
                  <a:pt x="4188096" y="34970"/>
                  <a:pt x="3941535" y="7481"/>
                  <a:pt x="3840480" y="18288"/>
                </a:cubicBezTo>
                <a:cubicBezTo>
                  <a:pt x="3739425" y="29095"/>
                  <a:pt x="3402388" y="17641"/>
                  <a:pt x="3264408" y="18288"/>
                </a:cubicBezTo>
                <a:cubicBezTo>
                  <a:pt x="3126428" y="18935"/>
                  <a:pt x="2776779" y="9983"/>
                  <a:pt x="2578608" y="18288"/>
                </a:cubicBezTo>
                <a:cubicBezTo>
                  <a:pt x="2380437" y="26593"/>
                  <a:pt x="1909468" y="25818"/>
                  <a:pt x="1673352" y="18288"/>
                </a:cubicBezTo>
                <a:cubicBezTo>
                  <a:pt x="1437236" y="10758"/>
                  <a:pt x="1131180" y="49884"/>
                  <a:pt x="877824" y="18288"/>
                </a:cubicBezTo>
                <a:cubicBezTo>
                  <a:pt x="624468" y="-13308"/>
                  <a:pt x="206753" y="2195"/>
                  <a:pt x="0" y="18288"/>
                </a:cubicBezTo>
                <a:cubicBezTo>
                  <a:pt x="313" y="10654"/>
                  <a:pt x="-263" y="4056"/>
                  <a:pt x="0" y="0"/>
                </a:cubicBezTo>
                <a:close/>
              </a:path>
              <a:path w="10972800" h="18288" stroke="0" extrusionOk="0">
                <a:moveTo>
                  <a:pt x="0" y="0"/>
                </a:moveTo>
                <a:cubicBezTo>
                  <a:pt x="164017" y="-17675"/>
                  <a:pt x="309425" y="9913"/>
                  <a:pt x="466344" y="0"/>
                </a:cubicBezTo>
                <a:cubicBezTo>
                  <a:pt x="623263" y="-9913"/>
                  <a:pt x="659300" y="-14524"/>
                  <a:pt x="822960" y="0"/>
                </a:cubicBezTo>
                <a:cubicBezTo>
                  <a:pt x="986620" y="14524"/>
                  <a:pt x="1105222" y="-16481"/>
                  <a:pt x="1289304" y="0"/>
                </a:cubicBezTo>
                <a:cubicBezTo>
                  <a:pt x="1473386" y="16481"/>
                  <a:pt x="1693223" y="26161"/>
                  <a:pt x="1975104" y="0"/>
                </a:cubicBezTo>
                <a:cubicBezTo>
                  <a:pt x="2256985" y="-26161"/>
                  <a:pt x="2435781" y="23061"/>
                  <a:pt x="2770632" y="0"/>
                </a:cubicBezTo>
                <a:cubicBezTo>
                  <a:pt x="3105483" y="-23061"/>
                  <a:pt x="3247479" y="-44011"/>
                  <a:pt x="3675888" y="0"/>
                </a:cubicBezTo>
                <a:cubicBezTo>
                  <a:pt x="4104297" y="44011"/>
                  <a:pt x="4280918" y="4017"/>
                  <a:pt x="4581144" y="0"/>
                </a:cubicBezTo>
                <a:cubicBezTo>
                  <a:pt x="4881370" y="-4017"/>
                  <a:pt x="5021699" y="-11889"/>
                  <a:pt x="5157216" y="0"/>
                </a:cubicBezTo>
                <a:cubicBezTo>
                  <a:pt x="5292733" y="11889"/>
                  <a:pt x="5603398" y="-17698"/>
                  <a:pt x="5952744" y="0"/>
                </a:cubicBezTo>
                <a:cubicBezTo>
                  <a:pt x="6302090" y="17698"/>
                  <a:pt x="6353093" y="-11909"/>
                  <a:pt x="6638544" y="0"/>
                </a:cubicBezTo>
                <a:cubicBezTo>
                  <a:pt x="6923995" y="11909"/>
                  <a:pt x="7053404" y="21630"/>
                  <a:pt x="7214616" y="0"/>
                </a:cubicBezTo>
                <a:cubicBezTo>
                  <a:pt x="7375828" y="-21630"/>
                  <a:pt x="7837963" y="3886"/>
                  <a:pt x="8010144" y="0"/>
                </a:cubicBezTo>
                <a:cubicBezTo>
                  <a:pt x="8182325" y="-3886"/>
                  <a:pt x="8224183" y="16009"/>
                  <a:pt x="8366760" y="0"/>
                </a:cubicBezTo>
                <a:cubicBezTo>
                  <a:pt x="8509337" y="-16009"/>
                  <a:pt x="8687920" y="-5720"/>
                  <a:pt x="8942832" y="0"/>
                </a:cubicBezTo>
                <a:cubicBezTo>
                  <a:pt x="9197744" y="5720"/>
                  <a:pt x="9368437" y="20479"/>
                  <a:pt x="9628632" y="0"/>
                </a:cubicBezTo>
                <a:cubicBezTo>
                  <a:pt x="9888827" y="-20479"/>
                  <a:pt x="10560858" y="-20746"/>
                  <a:pt x="10972800" y="0"/>
                </a:cubicBezTo>
                <a:cubicBezTo>
                  <a:pt x="10972186" y="5722"/>
                  <a:pt x="10972980" y="12495"/>
                  <a:pt x="10972800" y="18288"/>
                </a:cubicBezTo>
                <a:cubicBezTo>
                  <a:pt x="10786146" y="12536"/>
                  <a:pt x="10623717" y="14033"/>
                  <a:pt x="10506456" y="18288"/>
                </a:cubicBezTo>
                <a:cubicBezTo>
                  <a:pt x="10389195" y="22543"/>
                  <a:pt x="10296178" y="20107"/>
                  <a:pt x="10149840" y="18288"/>
                </a:cubicBezTo>
                <a:cubicBezTo>
                  <a:pt x="10003502" y="16469"/>
                  <a:pt x="9767530" y="28891"/>
                  <a:pt x="9464040" y="18288"/>
                </a:cubicBezTo>
                <a:cubicBezTo>
                  <a:pt x="9160550" y="7685"/>
                  <a:pt x="9229050" y="2659"/>
                  <a:pt x="8997696" y="18288"/>
                </a:cubicBezTo>
                <a:cubicBezTo>
                  <a:pt x="8766342" y="33917"/>
                  <a:pt x="8340136" y="34864"/>
                  <a:pt x="8092440" y="18288"/>
                </a:cubicBezTo>
                <a:cubicBezTo>
                  <a:pt x="7844744" y="1712"/>
                  <a:pt x="7863720" y="27405"/>
                  <a:pt x="7735824" y="18288"/>
                </a:cubicBezTo>
                <a:cubicBezTo>
                  <a:pt x="7607928" y="9171"/>
                  <a:pt x="7323619" y="461"/>
                  <a:pt x="7050024" y="18288"/>
                </a:cubicBezTo>
                <a:cubicBezTo>
                  <a:pt x="6776429" y="36115"/>
                  <a:pt x="6787899" y="28206"/>
                  <a:pt x="6693408" y="18288"/>
                </a:cubicBezTo>
                <a:cubicBezTo>
                  <a:pt x="6598917" y="8370"/>
                  <a:pt x="6395231" y="19114"/>
                  <a:pt x="6227064" y="18288"/>
                </a:cubicBezTo>
                <a:cubicBezTo>
                  <a:pt x="6058897" y="17462"/>
                  <a:pt x="5618582" y="1091"/>
                  <a:pt x="5431536" y="18288"/>
                </a:cubicBezTo>
                <a:cubicBezTo>
                  <a:pt x="5244490" y="35485"/>
                  <a:pt x="4729797" y="-9650"/>
                  <a:pt x="4526280" y="18288"/>
                </a:cubicBezTo>
                <a:cubicBezTo>
                  <a:pt x="4322763" y="46226"/>
                  <a:pt x="4216797" y="756"/>
                  <a:pt x="4059936" y="18288"/>
                </a:cubicBezTo>
                <a:cubicBezTo>
                  <a:pt x="3903075" y="35820"/>
                  <a:pt x="3537912" y="42098"/>
                  <a:pt x="3374136" y="18288"/>
                </a:cubicBezTo>
                <a:cubicBezTo>
                  <a:pt x="3210360" y="-5522"/>
                  <a:pt x="3126842" y="39135"/>
                  <a:pt x="2907792" y="18288"/>
                </a:cubicBezTo>
                <a:cubicBezTo>
                  <a:pt x="2688742" y="-2559"/>
                  <a:pt x="2490436" y="34100"/>
                  <a:pt x="2112264" y="18288"/>
                </a:cubicBezTo>
                <a:cubicBezTo>
                  <a:pt x="1734092" y="2476"/>
                  <a:pt x="1744622" y="-7274"/>
                  <a:pt x="1536192" y="18288"/>
                </a:cubicBezTo>
                <a:cubicBezTo>
                  <a:pt x="1327762" y="43850"/>
                  <a:pt x="1189025" y="6435"/>
                  <a:pt x="1069848" y="18288"/>
                </a:cubicBezTo>
                <a:cubicBezTo>
                  <a:pt x="950671" y="30141"/>
                  <a:pt x="858345" y="33684"/>
                  <a:pt x="713232" y="18288"/>
                </a:cubicBezTo>
                <a:cubicBezTo>
                  <a:pt x="568119" y="2892"/>
                  <a:pt x="250292" y="5410"/>
                  <a:pt x="0" y="18288"/>
                </a:cubicBezTo>
                <a:cubicBezTo>
                  <a:pt x="465" y="13062"/>
                  <a:pt x="-894" y="9029"/>
                  <a:pt x="0" y="0"/>
                </a:cubicBezTo>
                <a:close/>
              </a:path>
            </a:pathLst>
          </a:custGeom>
          <a:solidFill>
            <a:schemeClr val="accent2">
              <a:alpha val="75000"/>
            </a:schemeClr>
          </a:solidFill>
          <a:ln w="44450" cap="rnd">
            <a:solidFill>
              <a:schemeClr val="accent2">
                <a:alpha val="75000"/>
              </a:schemeClr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5C4DD78-3E4E-D970-4751-9573B9E36E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2493" y="2071316"/>
            <a:ext cx="6713552" cy="4119172"/>
          </a:xfrm>
        </p:spPr>
        <p:txBody>
          <a:bodyPr anchor="t">
            <a:normAutofit/>
          </a:bodyPr>
          <a:lstStyle/>
          <a:p>
            <a:r>
              <a:rPr lang="ru-RU" sz="2200" b="1" i="0" dirty="0">
                <a:effectLst/>
                <a:latin typeface="quote-cjk-patch"/>
              </a:rPr>
              <a:t>Действия игрока:</a:t>
            </a:r>
            <a:endParaRPr lang="ru-RU" sz="2200" b="0" i="0" dirty="0">
              <a:effectLst/>
              <a:latin typeface="quote-cjk-patch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ru-RU" sz="2200" b="0" i="0" dirty="0">
                <a:effectLst/>
                <a:latin typeface="quote-cjk-patch"/>
              </a:rPr>
              <a:t>Запустить игру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sz="2200" b="0" i="0" dirty="0">
                <a:effectLst/>
                <a:latin typeface="quote-cjk-patch"/>
              </a:rPr>
              <a:t>Управлять такси (кнопки)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sz="2200" b="0" i="0" dirty="0">
                <a:effectLst/>
                <a:latin typeface="quote-cjk-patch"/>
              </a:rPr>
              <a:t>Подобрать пассажира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sz="2200" b="0" i="0" dirty="0">
                <a:effectLst/>
                <a:latin typeface="quote-cjk-patch"/>
              </a:rPr>
              <a:t>Доставить в пункт назначения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sz="2200" b="0" i="0" dirty="0">
                <a:effectLst/>
                <a:latin typeface="quote-cjk-patch"/>
              </a:rPr>
              <a:t>Заработать деньги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sz="2200" b="0" i="0" dirty="0">
                <a:effectLst/>
                <a:latin typeface="quote-cjk-patch"/>
              </a:rPr>
              <a:t>Посмотреть статистику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sz="2200" b="0" i="0" dirty="0">
                <a:effectLst/>
                <a:latin typeface="quote-cjk-patch"/>
              </a:rPr>
              <a:t>Выйти из игры</a:t>
            </a:r>
          </a:p>
          <a:p>
            <a:pPr marL="0" indent="0">
              <a:buNone/>
            </a:pPr>
            <a:endParaRPr lang="ru-RU" sz="2200" dirty="0"/>
          </a:p>
        </p:txBody>
      </p:sp>
      <p:pic>
        <p:nvPicPr>
          <p:cNvPr id="7" name="Рисунок 6" descr="Изображение выглядит как текст, снимок экрана, диаграмма, дизайн&#10;&#10;Автоматически созданное описание">
            <a:extLst>
              <a:ext uri="{FF2B5EF4-FFF2-40B4-BE49-F238E27FC236}">
                <a16:creationId xmlns:a16="http://schemas.microsoft.com/office/drawing/2014/main" id="{FC3B1E4D-3E02-6B44-6FB2-2F9E49C908A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005" r="7" b="7"/>
          <a:stretch>
            <a:fillRect/>
          </a:stretch>
        </p:blipFill>
        <p:spPr>
          <a:xfrm>
            <a:off x="7675658" y="2093976"/>
            <a:ext cx="3941064" cy="40965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40719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7B831B6F-405A-4B47-B9BB-5CA88F2858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F999BB6-09F6-FB5A-43B6-9094CD8428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39128" y="638089"/>
            <a:ext cx="4818888" cy="1476801"/>
          </a:xfrm>
        </p:spPr>
        <p:txBody>
          <a:bodyPr anchor="b">
            <a:normAutofit/>
          </a:bodyPr>
          <a:lstStyle/>
          <a:p>
            <a:r>
              <a:rPr lang="ru-RU" sz="5400" b="1">
                <a:effectLst/>
                <a:latin typeface="quote-cjk-patch"/>
              </a:rPr>
              <a:t>Блок-схема</a:t>
            </a:r>
            <a:endParaRPr lang="ru-RU" sz="5400"/>
          </a:p>
        </p:txBody>
      </p:sp>
      <p:pic>
        <p:nvPicPr>
          <p:cNvPr id="5" name="Рисунок 4" descr="Изображение выглядит как снимок экрана, диаграмма, текст, План&#10;&#10;Автоматически созданное описание">
            <a:extLst>
              <a:ext uri="{FF2B5EF4-FFF2-40B4-BE49-F238E27FC236}">
                <a16:creationId xmlns:a16="http://schemas.microsoft.com/office/drawing/2014/main" id="{3A00A508-A685-C566-F022-2BD57F62DEB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0936" y="992935"/>
            <a:ext cx="5458968" cy="4872129"/>
          </a:xfrm>
          <a:prstGeom prst="rect">
            <a:avLst/>
          </a:prstGeom>
        </p:spPr>
      </p:pic>
      <p:sp>
        <p:nvSpPr>
          <p:cNvPr id="12" name="sketch line">
            <a:extLst>
              <a:ext uri="{FF2B5EF4-FFF2-40B4-BE49-F238E27FC236}">
                <a16:creationId xmlns:a16="http://schemas.microsoft.com/office/drawing/2014/main" id="{953EE71A-6488-4203-A7C4-77102FD0DC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739128" y="2372868"/>
            <a:ext cx="3255095" cy="18288"/>
          </a:xfrm>
          <a:custGeom>
            <a:avLst/>
            <a:gdLst>
              <a:gd name="connsiteX0" fmla="*/ 0 w 3255095"/>
              <a:gd name="connsiteY0" fmla="*/ 0 h 18288"/>
              <a:gd name="connsiteX1" fmla="*/ 618468 w 3255095"/>
              <a:gd name="connsiteY1" fmla="*/ 0 h 18288"/>
              <a:gd name="connsiteX2" fmla="*/ 1269487 w 3255095"/>
              <a:gd name="connsiteY2" fmla="*/ 0 h 18288"/>
              <a:gd name="connsiteX3" fmla="*/ 1953057 w 3255095"/>
              <a:gd name="connsiteY3" fmla="*/ 0 h 18288"/>
              <a:gd name="connsiteX4" fmla="*/ 2636627 w 3255095"/>
              <a:gd name="connsiteY4" fmla="*/ 0 h 18288"/>
              <a:gd name="connsiteX5" fmla="*/ 3255095 w 3255095"/>
              <a:gd name="connsiteY5" fmla="*/ 0 h 18288"/>
              <a:gd name="connsiteX6" fmla="*/ 3255095 w 3255095"/>
              <a:gd name="connsiteY6" fmla="*/ 18288 h 18288"/>
              <a:gd name="connsiteX7" fmla="*/ 2538974 w 3255095"/>
              <a:gd name="connsiteY7" fmla="*/ 18288 h 18288"/>
              <a:gd name="connsiteX8" fmla="*/ 1822853 w 3255095"/>
              <a:gd name="connsiteY8" fmla="*/ 18288 h 18288"/>
              <a:gd name="connsiteX9" fmla="*/ 1171834 w 3255095"/>
              <a:gd name="connsiteY9" fmla="*/ 18288 h 18288"/>
              <a:gd name="connsiteX10" fmla="*/ 0 w 3255095"/>
              <a:gd name="connsiteY10" fmla="*/ 18288 h 18288"/>
              <a:gd name="connsiteX11" fmla="*/ 0 w 3255095"/>
              <a:gd name="connsiteY11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23A8331-9006-67D5-548E-CB7A922BF5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39128" y="2664886"/>
            <a:ext cx="4818888" cy="3550789"/>
          </a:xfrm>
        </p:spPr>
        <p:txBody>
          <a:bodyPr anchor="t">
            <a:normAutofit/>
          </a:bodyPr>
          <a:lstStyle/>
          <a:p>
            <a:pPr marL="0" indent="0">
              <a:buNone/>
            </a:pPr>
            <a:r>
              <a:rPr lang="ru-RU" sz="2000" b="1" i="0" dirty="0">
                <a:effectLst/>
                <a:latin typeface="quote-cjk-patch"/>
              </a:rPr>
              <a:t>Ключевые этапы:</a:t>
            </a:r>
            <a:endParaRPr lang="ru-RU" sz="2000" b="0" i="0" dirty="0">
              <a:effectLst/>
              <a:latin typeface="quote-cjk-patch"/>
            </a:endParaRPr>
          </a:p>
          <a:p>
            <a:pPr>
              <a:buFont typeface="+mj-lt"/>
              <a:buAutoNum type="arabicPeriod"/>
            </a:pPr>
            <a:r>
              <a:rPr lang="ru-RU" sz="2000" b="0" i="0" dirty="0">
                <a:effectLst/>
                <a:latin typeface="quote-cjk-patch"/>
              </a:rPr>
              <a:t>Начало</a:t>
            </a:r>
          </a:p>
          <a:p>
            <a:pPr>
              <a:buFont typeface="+mj-lt"/>
              <a:buAutoNum type="arabicPeriod"/>
            </a:pPr>
            <a:r>
              <a:rPr lang="ru-RU" sz="2000" b="0" i="0" dirty="0">
                <a:effectLst/>
                <a:latin typeface="quote-cjk-patch"/>
              </a:rPr>
              <a:t>Создание карты 5×5</a:t>
            </a:r>
          </a:p>
          <a:p>
            <a:pPr>
              <a:buFont typeface="+mj-lt"/>
              <a:buAutoNum type="arabicPeriod"/>
            </a:pPr>
            <a:r>
              <a:rPr lang="ru-RU" sz="2000" b="0" i="0" dirty="0">
                <a:effectLst/>
                <a:latin typeface="quote-cjk-patch"/>
              </a:rPr>
              <a:t>Движение такси</a:t>
            </a:r>
          </a:p>
          <a:p>
            <a:pPr>
              <a:buFont typeface="+mj-lt"/>
              <a:buAutoNum type="arabicPeriod"/>
            </a:pPr>
            <a:r>
              <a:rPr lang="ru-RU" sz="2000" b="0" i="0" dirty="0">
                <a:effectLst/>
                <a:latin typeface="quote-cjk-patch"/>
              </a:rPr>
              <a:t>Проверка: пассажир на клетке? → подбор</a:t>
            </a:r>
          </a:p>
          <a:p>
            <a:pPr>
              <a:buFont typeface="+mj-lt"/>
              <a:buAutoNum type="arabicPeriod"/>
            </a:pPr>
            <a:r>
              <a:rPr lang="ru-RU" sz="2000" b="0" i="0" dirty="0">
                <a:effectLst/>
                <a:latin typeface="quote-cjk-patch"/>
              </a:rPr>
              <a:t>Проверка: пункт назначения? → доставка (+50 денег, новый пассажир)</a:t>
            </a:r>
          </a:p>
          <a:p>
            <a:pPr>
              <a:buFont typeface="+mj-lt"/>
              <a:buAutoNum type="arabicPeriod"/>
            </a:pPr>
            <a:r>
              <a:rPr lang="ru-RU" sz="2000" b="0" i="0" dirty="0">
                <a:effectLst/>
                <a:latin typeface="quote-cjk-patch"/>
              </a:rPr>
              <a:t>Показ карты → повтор</a:t>
            </a:r>
          </a:p>
          <a:p>
            <a:pPr marL="0" indent="0">
              <a:buNone/>
            </a:pP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198978570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5" name="Rectangle 24">
            <a:extLst>
              <a:ext uri="{FF2B5EF4-FFF2-40B4-BE49-F238E27FC236}">
                <a16:creationId xmlns:a16="http://schemas.microsoft.com/office/drawing/2014/main" id="{26CAED0A-2A45-4C9C-BCDD-21A8A092C5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70E550F-542D-7C55-2008-A88FC1B4D4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3662" y="386930"/>
            <a:ext cx="10066122" cy="1298448"/>
          </a:xfrm>
        </p:spPr>
        <p:txBody>
          <a:bodyPr anchor="b">
            <a:normAutofit/>
          </a:bodyPr>
          <a:lstStyle/>
          <a:p>
            <a:r>
              <a:rPr lang="ru-RU" sz="4800" b="1">
                <a:effectLst/>
                <a:latin typeface="quote-cjk-patch"/>
              </a:rPr>
              <a:t>Интерфейс программы</a:t>
            </a:r>
            <a:endParaRPr lang="ru-RU" sz="480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A9A4357-BD1D-4622-A4FE-766E6AB8DE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 flipV="1">
            <a:off x="-2" y="1998845"/>
            <a:ext cx="11454595" cy="781699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267991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63F79900-8CCA-D75D-8D18-716380CC83BD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793660" y="2599509"/>
            <a:ext cx="4160725" cy="3598989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0" tIns="0" rIns="0" bIns="0" numCol="1" anchor="ctr" anchorCtr="0" compatLnSpc="1">
            <a:prstTxWarp prst="textNoShape">
              <a:avLst/>
            </a:prstTxWarp>
            <a:normAutofit fontScale="92500" lnSpcReduction="10000"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ru-RU" altLang="ru-RU" sz="2000" b="0" i="0" u="none" strike="noStrike" cap="none" normalizeH="0" baseline="0" dirty="0">
                <a:ln>
                  <a:noFill/>
                </a:ln>
                <a:effectLst/>
                <a:latin typeface="Menlo"/>
              </a:rPr>
              <a:t>Главное меню: </a:t>
            </a:r>
            <a:br>
              <a:rPr lang="ru-RU" altLang="ru-RU" sz="2000" dirty="0">
                <a:latin typeface="Menlo"/>
              </a:rPr>
            </a:br>
            <a:r>
              <a:rPr kumimoji="0" lang="ru-RU" altLang="ru-RU" sz="2000" b="0" i="0" u="none" strike="noStrike" cap="none" normalizeH="0" baseline="0" dirty="0">
                <a:ln>
                  <a:noFill/>
                </a:ln>
                <a:effectLst/>
                <a:latin typeface="Menlo"/>
              </a:rPr>
              <a:t>- 4 кнопки: Новая игра, Правила, Статистика, Выход </a:t>
            </a:r>
            <a:br>
              <a:rPr kumimoji="0" lang="ru-RU" altLang="ru-RU" sz="2000" b="0" i="0" u="none" strike="noStrike" cap="none" normalizeH="0" baseline="0" dirty="0">
                <a:ln>
                  <a:noFill/>
                </a:ln>
                <a:effectLst/>
                <a:latin typeface="Menlo"/>
              </a:rPr>
            </a:br>
            <a:br>
              <a:rPr kumimoji="0" lang="ru-RU" altLang="ru-RU" sz="2000" b="0" i="0" u="none" strike="noStrike" cap="none" normalizeH="0" baseline="0" dirty="0">
                <a:ln>
                  <a:noFill/>
                </a:ln>
                <a:effectLst/>
                <a:latin typeface="Menlo"/>
              </a:rPr>
            </a:br>
            <a:r>
              <a:rPr kumimoji="0" lang="ru-RU" altLang="ru-RU" sz="2000" b="0" i="0" u="none" strike="noStrike" cap="none" normalizeH="0" baseline="0" dirty="0">
                <a:ln>
                  <a:noFill/>
                </a:ln>
                <a:effectLst/>
                <a:latin typeface="Menlo"/>
              </a:rPr>
              <a:t>Окно игры: </a:t>
            </a:r>
            <a:br>
              <a:rPr kumimoji="0" lang="ru-RU" altLang="ru-RU" sz="2000" b="0" i="0" u="none" strike="noStrike" cap="none" normalizeH="0" baseline="0" dirty="0">
                <a:ln>
                  <a:noFill/>
                </a:ln>
                <a:effectLst/>
                <a:latin typeface="Menlo"/>
              </a:rPr>
            </a:br>
            <a:r>
              <a:rPr kumimoji="0" lang="ru-RU" altLang="ru-RU" sz="2000" b="0" i="0" u="none" strike="noStrike" cap="none" normalizeH="0" baseline="0" dirty="0">
                <a:ln>
                  <a:noFill/>
                </a:ln>
                <a:effectLst/>
                <a:latin typeface="Menlo"/>
              </a:rPr>
              <a:t>- Информационная панель (деньги, пассажир, шаги) </a:t>
            </a:r>
            <a:br>
              <a:rPr kumimoji="0" lang="ru-RU" altLang="ru-RU" sz="2000" b="0" i="0" u="none" strike="noStrike" cap="none" normalizeH="0" baseline="0" dirty="0">
                <a:ln>
                  <a:noFill/>
                </a:ln>
                <a:effectLst/>
                <a:latin typeface="Menlo"/>
              </a:rPr>
            </a:br>
            <a:r>
              <a:rPr kumimoji="0" lang="ru-RU" altLang="ru-RU" sz="2000" b="0" i="0" u="none" strike="noStrike" cap="none" normalizeH="0" baseline="0" dirty="0">
                <a:ln>
                  <a:noFill/>
                </a:ln>
                <a:effectLst/>
                <a:latin typeface="Menlo"/>
              </a:rPr>
              <a:t>- Игровое поле 5×5 </a:t>
            </a:r>
            <a:br>
              <a:rPr kumimoji="0" lang="ru-RU" altLang="ru-RU" sz="2000" b="0" i="0" u="none" strike="noStrike" cap="none" normalizeH="0" baseline="0" dirty="0">
                <a:ln>
                  <a:noFill/>
                </a:ln>
                <a:effectLst/>
                <a:latin typeface="Menlo"/>
              </a:rPr>
            </a:br>
            <a:r>
              <a:rPr kumimoji="0" lang="ru-RU" altLang="ru-RU" sz="2000" b="0" i="0" u="none" strike="noStrike" cap="none" normalizeH="0" baseline="0" dirty="0">
                <a:ln>
                  <a:noFill/>
                </a:ln>
                <a:effectLst/>
                <a:latin typeface="Menlo"/>
              </a:rPr>
              <a:t>Обозначения: T – такси, X – такси с пассажиром, P – пассажир, D – пункт назначения, . – пустая </a:t>
            </a:r>
            <a:r>
              <a:rPr kumimoji="0" lang="ru-RU" altLang="ru-RU" sz="2000" b="0" i="0" u="none" strike="noStrike" cap="none" normalizeH="0" baseline="0">
                <a:ln>
                  <a:noFill/>
                </a:ln>
                <a:effectLst/>
                <a:latin typeface="Menlo"/>
              </a:rPr>
              <a:t>клетка </a:t>
            </a:r>
            <a:br>
              <a:rPr kumimoji="0" lang="ru-RU" altLang="ru-RU" sz="2000" b="0" i="0" u="none" strike="noStrike" cap="none" normalizeH="0" baseline="0">
                <a:ln>
                  <a:noFill/>
                </a:ln>
                <a:effectLst/>
                <a:latin typeface="Menlo"/>
              </a:rPr>
            </a:br>
            <a:r>
              <a:rPr kumimoji="0" lang="ru-RU" altLang="ru-RU" sz="2000" b="0" i="0" u="none" strike="noStrike" cap="none" normalizeH="0" baseline="0">
                <a:ln>
                  <a:noFill/>
                </a:ln>
                <a:effectLst/>
                <a:latin typeface="Menlo"/>
              </a:rPr>
              <a:t>- </a:t>
            </a:r>
            <a:r>
              <a:rPr kumimoji="0" lang="ru-RU" altLang="ru-RU" sz="2000" b="0" i="0" u="none" strike="noStrike" cap="none" normalizeH="0" baseline="0" dirty="0">
                <a:ln>
                  <a:noFill/>
                </a:ln>
                <a:effectLst/>
                <a:latin typeface="Menlo"/>
              </a:rPr>
              <a:t>Кнопки управления: Вверх, Вниз, Влево, </a:t>
            </a:r>
            <a:r>
              <a:rPr kumimoji="0" lang="ru-RU" altLang="ru-RU" sz="2000" b="0" i="0" u="none" strike="noStrike" cap="none" normalizeH="0" baseline="0">
                <a:ln>
                  <a:noFill/>
                </a:ln>
                <a:effectLst/>
                <a:latin typeface="Menlo"/>
              </a:rPr>
              <a:t>Вправо </a:t>
            </a:r>
            <a:br>
              <a:rPr kumimoji="0" lang="ru-RU" altLang="ru-RU" sz="2000" b="0" i="0" u="none" strike="noStrike" cap="none" normalizeH="0" baseline="0">
                <a:ln>
                  <a:noFill/>
                </a:ln>
                <a:effectLst/>
                <a:latin typeface="Menlo"/>
              </a:rPr>
            </a:br>
            <a:r>
              <a:rPr kumimoji="0" lang="ru-RU" altLang="ru-RU" sz="2000" b="0" i="0" u="none" strike="noStrike" cap="none" normalizeH="0" baseline="0">
                <a:ln>
                  <a:noFill/>
                </a:ln>
                <a:effectLst/>
                <a:latin typeface="Menlo"/>
              </a:rPr>
              <a:t>- </a:t>
            </a:r>
            <a:r>
              <a:rPr kumimoji="0" lang="ru-RU" altLang="ru-RU" sz="2000" b="0" i="0" u="none" strike="noStrike" cap="none" normalizeH="0" baseline="0" dirty="0">
                <a:ln>
                  <a:noFill/>
                </a:ln>
                <a:effectLst/>
                <a:latin typeface="Menlo"/>
              </a:rPr>
              <a:t>Кнопка «В главное меню</a:t>
            </a:r>
            <a:r>
              <a:rPr kumimoji="0" lang="ru-RU" altLang="ru-RU" sz="2000" b="0" i="0" u="none" strike="noStrike" cap="none" normalizeH="0" baseline="0">
                <a:ln>
                  <a:noFill/>
                </a:ln>
                <a:effectLst/>
                <a:latin typeface="Menlo"/>
              </a:rPr>
              <a:t>» </a:t>
            </a:r>
            <a:br>
              <a:rPr kumimoji="0" lang="ru-RU" altLang="ru-RU" sz="2000" b="0" i="0" u="none" strike="noStrike" cap="none" normalizeH="0" baseline="0">
                <a:ln>
                  <a:noFill/>
                </a:ln>
                <a:effectLst/>
                <a:latin typeface="Menlo"/>
              </a:rPr>
            </a:br>
            <a:r>
              <a:rPr kumimoji="0" lang="ru-RU" altLang="ru-RU" sz="2000" b="0" i="0" u="none" strike="noStrike" cap="none" normalizeH="0" baseline="0">
                <a:ln>
                  <a:noFill/>
                </a:ln>
                <a:effectLst/>
                <a:latin typeface="Menlo"/>
              </a:rPr>
              <a:t>- </a:t>
            </a:r>
            <a:r>
              <a:rPr kumimoji="0" lang="ru-RU" altLang="ru-RU" sz="2000" b="0" i="0" u="none" strike="noStrike" cap="none" normalizeH="0" baseline="0" dirty="0">
                <a:ln>
                  <a:noFill/>
                </a:ln>
                <a:effectLst/>
                <a:latin typeface="Menlo"/>
              </a:rPr>
              <a:t>Область последних действий (лог)</a:t>
            </a:r>
            <a:r>
              <a:rPr kumimoji="0" lang="ru-RU" altLang="ru-RU" sz="2000" b="0" i="0" u="none" strike="noStrike" cap="none" normalizeH="0" baseline="0" dirty="0">
                <a:ln>
                  <a:noFill/>
                </a:ln>
                <a:effectLst/>
              </a:rPr>
              <a:t> </a:t>
            </a:r>
            <a:endParaRPr kumimoji="0" lang="ru-RU" altLang="ru-RU" sz="20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  <p:pic>
        <p:nvPicPr>
          <p:cNvPr id="8" name="Рисунок 7" descr="Изображение выглядит как текст, снимок экрана, диаграмма, число&#10;&#10;Автоматически созданное описание">
            <a:extLst>
              <a:ext uri="{FF2B5EF4-FFF2-40B4-BE49-F238E27FC236}">
                <a16:creationId xmlns:a16="http://schemas.microsoft.com/office/drawing/2014/main" id="{AAE023C2-1E53-A0A1-0ECE-DE904F42C9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5" b="-6"/>
          <a:stretch>
            <a:fillRect/>
          </a:stretch>
        </p:blipFill>
        <p:spPr>
          <a:xfrm>
            <a:off x="5418759" y="2559047"/>
            <a:ext cx="2741805" cy="3639451"/>
          </a:xfrm>
          <a:prstGeom prst="rect">
            <a:avLst/>
          </a:prstGeom>
        </p:spPr>
      </p:pic>
      <p:pic>
        <p:nvPicPr>
          <p:cNvPr id="6" name="Рисунок 5" descr="Изображение выглядит как текст, снимок экрана, Шрифт, число&#10;&#10;Автоматически созданное описание">
            <a:extLst>
              <a:ext uri="{FF2B5EF4-FFF2-40B4-BE49-F238E27FC236}">
                <a16:creationId xmlns:a16="http://schemas.microsoft.com/office/drawing/2014/main" id="{68F5B033-E7A4-554A-6D91-9FCFE18B504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663" b="3"/>
          <a:stretch>
            <a:fillRect/>
          </a:stretch>
        </p:blipFill>
        <p:spPr>
          <a:xfrm>
            <a:off x="8412616" y="2559047"/>
            <a:ext cx="2743620" cy="3639451"/>
          </a:xfrm>
          <a:prstGeom prst="rect">
            <a:avLst/>
          </a:prstGeom>
        </p:spPr>
      </p:pic>
      <p:sp>
        <p:nvSpPr>
          <p:cNvPr id="31" name="Rectangle 30">
            <a:extLst>
              <a:ext uri="{FF2B5EF4-FFF2-40B4-BE49-F238E27FC236}">
                <a16:creationId xmlns:a16="http://schemas.microsoft.com/office/drawing/2014/main" id="{E6995CE5-F890-4ABA-82A2-26507CE8D2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1228040" y="2313027"/>
            <a:ext cx="781700" cy="15238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33160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7B831B6F-405A-4B47-B9BB-5CA88F2858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6D4DDE-BBB4-79CC-11EA-D6A6FA6EE4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39128" y="638089"/>
            <a:ext cx="4818888" cy="1476801"/>
          </a:xfrm>
        </p:spPr>
        <p:txBody>
          <a:bodyPr anchor="b">
            <a:normAutofit/>
          </a:bodyPr>
          <a:lstStyle/>
          <a:p>
            <a:r>
              <a:rPr lang="ru-RU" sz="5000" b="1">
                <a:effectLst/>
                <a:latin typeface="quote-cjk-patch"/>
              </a:rPr>
              <a:t>Статистика и логи</a:t>
            </a:r>
            <a:endParaRPr lang="ru-RU" sz="5000"/>
          </a:p>
        </p:txBody>
      </p:sp>
      <p:pic>
        <p:nvPicPr>
          <p:cNvPr id="6" name="Рисунок 5" descr="Изображение выглядит как текст, снимок экрана, Шрифт, число&#10;&#10;Автоматически созданное описание">
            <a:extLst>
              <a:ext uri="{FF2B5EF4-FFF2-40B4-BE49-F238E27FC236}">
                <a16:creationId xmlns:a16="http://schemas.microsoft.com/office/drawing/2014/main" id="{AEEFDE5A-707C-8CAA-2CF2-A55FEAD4CF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0936" y="1069722"/>
            <a:ext cx="5458968" cy="4718556"/>
          </a:xfrm>
          <a:prstGeom prst="rect">
            <a:avLst/>
          </a:prstGeom>
        </p:spPr>
      </p:pic>
      <p:sp>
        <p:nvSpPr>
          <p:cNvPr id="13" name="sketch line">
            <a:extLst>
              <a:ext uri="{FF2B5EF4-FFF2-40B4-BE49-F238E27FC236}">
                <a16:creationId xmlns:a16="http://schemas.microsoft.com/office/drawing/2014/main" id="{953EE71A-6488-4203-A7C4-77102FD0DC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739128" y="2372868"/>
            <a:ext cx="3255095" cy="18288"/>
          </a:xfrm>
          <a:custGeom>
            <a:avLst/>
            <a:gdLst>
              <a:gd name="connsiteX0" fmla="*/ 0 w 3255095"/>
              <a:gd name="connsiteY0" fmla="*/ 0 h 18288"/>
              <a:gd name="connsiteX1" fmla="*/ 618468 w 3255095"/>
              <a:gd name="connsiteY1" fmla="*/ 0 h 18288"/>
              <a:gd name="connsiteX2" fmla="*/ 1269487 w 3255095"/>
              <a:gd name="connsiteY2" fmla="*/ 0 h 18288"/>
              <a:gd name="connsiteX3" fmla="*/ 1953057 w 3255095"/>
              <a:gd name="connsiteY3" fmla="*/ 0 h 18288"/>
              <a:gd name="connsiteX4" fmla="*/ 2636627 w 3255095"/>
              <a:gd name="connsiteY4" fmla="*/ 0 h 18288"/>
              <a:gd name="connsiteX5" fmla="*/ 3255095 w 3255095"/>
              <a:gd name="connsiteY5" fmla="*/ 0 h 18288"/>
              <a:gd name="connsiteX6" fmla="*/ 3255095 w 3255095"/>
              <a:gd name="connsiteY6" fmla="*/ 18288 h 18288"/>
              <a:gd name="connsiteX7" fmla="*/ 2538974 w 3255095"/>
              <a:gd name="connsiteY7" fmla="*/ 18288 h 18288"/>
              <a:gd name="connsiteX8" fmla="*/ 1822853 w 3255095"/>
              <a:gd name="connsiteY8" fmla="*/ 18288 h 18288"/>
              <a:gd name="connsiteX9" fmla="*/ 1171834 w 3255095"/>
              <a:gd name="connsiteY9" fmla="*/ 18288 h 18288"/>
              <a:gd name="connsiteX10" fmla="*/ 0 w 3255095"/>
              <a:gd name="connsiteY10" fmla="*/ 18288 h 18288"/>
              <a:gd name="connsiteX11" fmla="*/ 0 w 3255095"/>
              <a:gd name="connsiteY11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C29CE696-4322-A37A-36FF-AEB97B8C907A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6739128" y="2664886"/>
            <a:ext cx="4818888" cy="3550789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0" tIns="0" rIns="0" bIns="0" numCol="1" anchor="t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ru-RU" altLang="ru-RU" sz="2200" b="0" i="0" u="none" strike="noStrike" cap="none" normalizeH="0" baseline="0">
                <a:ln>
                  <a:noFill/>
                </a:ln>
                <a:effectLst/>
                <a:latin typeface="Menlo"/>
              </a:rPr>
              <a:t>Все действия игрока автоматически записываются в файл с указанием времени. Что сохраняется: - начало игры - каждый ход (с координатами) - подбор пассажира - доставка (+50 денег) - появление нового пассажира - выход в главное меню</a:t>
            </a:r>
            <a:r>
              <a:rPr kumimoji="0" lang="ru-RU" altLang="ru-RU" sz="2200" b="0" i="0" u="none" strike="noStrike" cap="none" normalizeH="0" baseline="0">
                <a:ln>
                  <a:noFill/>
                </a:ln>
                <a:effectLst/>
              </a:rPr>
              <a:t> </a:t>
            </a:r>
            <a:endParaRPr kumimoji="0" lang="ru-RU" altLang="ru-RU" sz="2200" b="0" i="0" u="none" strike="noStrike" cap="none" normalizeH="0" baseline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138276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1" name="Rectangle 22">
            <a:extLst>
              <a:ext uri="{FF2B5EF4-FFF2-40B4-BE49-F238E27FC236}">
                <a16:creationId xmlns:a16="http://schemas.microsoft.com/office/drawing/2014/main" id="{DBF61EA3-B236-439E-9C0B-340980D56B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799F2A7-1F0F-DBB6-C1F6-BCAEA6C09C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8638" y="386930"/>
            <a:ext cx="9236700" cy="1188950"/>
          </a:xfrm>
        </p:spPr>
        <p:txBody>
          <a:bodyPr anchor="b">
            <a:normAutofit/>
          </a:bodyPr>
          <a:lstStyle/>
          <a:p>
            <a:r>
              <a:rPr lang="ru-RU" sz="5400" b="1">
                <a:effectLst/>
                <a:latin typeface="quote-cjk-patch"/>
              </a:rPr>
              <a:t>Заключение</a:t>
            </a:r>
            <a:endParaRPr lang="ru-RU" sz="5400"/>
          </a:p>
        </p:txBody>
      </p:sp>
      <p:grpSp>
        <p:nvGrpSpPr>
          <p:cNvPr id="32" name="Group 24">
            <a:extLst>
              <a:ext uri="{FF2B5EF4-FFF2-40B4-BE49-F238E27FC236}">
                <a16:creationId xmlns:a16="http://schemas.microsoft.com/office/drawing/2014/main" id="{28FAF094-D087-493F-8DF9-A486C2D6BB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" y="1998368"/>
            <a:ext cx="11695083" cy="782176"/>
            <a:chOff x="-2" y="1998368"/>
            <a:chExt cx="11695083" cy="782176"/>
          </a:xfrm>
        </p:grpSpPr>
        <p:sp>
          <p:nvSpPr>
            <p:cNvPr id="33" name="Rectangle 25">
              <a:extLst>
                <a:ext uri="{FF2B5EF4-FFF2-40B4-BE49-F238E27FC236}">
                  <a16:creationId xmlns:a16="http://schemas.microsoft.com/office/drawing/2014/main" id="{8D7C88D8-5509-4514-925A-9CE148E5CB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Rectangle 26">
              <a:extLst>
                <a:ext uri="{FF2B5EF4-FFF2-40B4-BE49-F238E27FC236}">
                  <a16:creationId xmlns:a16="http://schemas.microsoft.com/office/drawing/2014/main" id="{7275593D-F75E-4426-AE3E-2CDEFD228D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-2" y="1998845"/>
              <a:ext cx="11454595" cy="7816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5" name="Rectangle 28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14784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B0873840-2D8D-69D0-E520-221F5B06BB76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793660" y="2599509"/>
            <a:ext cx="10143668" cy="3435531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0" tIns="0" rIns="0" bIns="0" numCol="1" anchor="ctr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ru-RU" altLang="ru-RU" sz="2000" b="0" i="0" u="none" strike="noStrike" cap="none" normalizeH="0" baseline="0" dirty="0">
                <a:ln>
                  <a:noFill/>
                </a:ln>
                <a:effectLst/>
                <a:latin typeface="Menlo"/>
              </a:rPr>
              <a:t>В ходе работы над проектом я:</a:t>
            </a:r>
            <a:br>
              <a:rPr kumimoji="0" lang="ru-RU" altLang="ru-RU" sz="2000" b="0" i="0" u="none" strike="noStrike" cap="none" normalizeH="0" baseline="0" dirty="0">
                <a:ln>
                  <a:noFill/>
                </a:ln>
                <a:effectLst/>
                <a:latin typeface="Menlo"/>
              </a:rPr>
            </a:br>
            <a:br>
              <a:rPr kumimoji="0" lang="ru-RU" altLang="ru-RU" sz="2000" b="0" i="0" u="none" strike="noStrike" cap="none" normalizeH="0" baseline="0" dirty="0">
                <a:ln>
                  <a:noFill/>
                </a:ln>
                <a:effectLst/>
                <a:latin typeface="Menlo"/>
              </a:rPr>
            </a:br>
            <a:r>
              <a:rPr kumimoji="0" lang="ru-RU" altLang="ru-RU" sz="2000" b="0" i="0" u="none" strike="noStrike" cap="none" normalizeH="0" baseline="0" dirty="0">
                <a:ln>
                  <a:noFill/>
                </a:ln>
                <a:effectLst/>
                <a:latin typeface="Menlo"/>
              </a:rPr>
              <a:t>- разработал игру «Таксист» с графическим интерфейсом на Python + </a:t>
            </a:r>
            <a:r>
              <a:rPr kumimoji="0" lang="ru-RU" altLang="ru-RU" sz="2000" b="0" i="0" u="none" strike="noStrike" cap="none" normalizeH="0" baseline="0" dirty="0" err="1">
                <a:ln>
                  <a:noFill/>
                </a:ln>
                <a:effectLst/>
                <a:latin typeface="Menlo"/>
              </a:rPr>
              <a:t>tkinter</a:t>
            </a:r>
            <a:r>
              <a:rPr kumimoji="0" lang="ru-RU" altLang="ru-RU" sz="2000" b="0" i="0" u="none" strike="noStrike" cap="none" normalizeH="0" baseline="0" dirty="0">
                <a:ln>
                  <a:noFill/>
                </a:ln>
                <a:effectLst/>
                <a:latin typeface="Menlo"/>
              </a:rPr>
              <a:t>; - создал несколько окон (меню, игра, правила, статистика); </a:t>
            </a:r>
            <a:br>
              <a:rPr kumimoji="0" lang="ru-RU" altLang="ru-RU" sz="2000" b="0" i="0" u="none" strike="noStrike" cap="none" normalizeH="0" baseline="0" dirty="0">
                <a:ln>
                  <a:noFill/>
                </a:ln>
                <a:effectLst/>
                <a:latin typeface="Menlo"/>
              </a:rPr>
            </a:br>
            <a:r>
              <a:rPr kumimoji="0" lang="ru-RU" altLang="ru-RU" sz="2000" b="0" i="0" u="none" strike="noStrike" cap="none" normalizeH="0" baseline="0" dirty="0">
                <a:ln>
                  <a:noFill/>
                </a:ln>
                <a:effectLst/>
                <a:latin typeface="Menlo"/>
              </a:rPr>
              <a:t>- добавил управление кнопками, подсчёт денег и шагов;</a:t>
            </a:r>
            <a:br>
              <a:rPr kumimoji="0" lang="ru-RU" altLang="ru-RU" sz="2000" b="0" i="0" u="none" strike="noStrike" cap="none" normalizeH="0" baseline="0" dirty="0">
                <a:ln>
                  <a:noFill/>
                </a:ln>
                <a:effectLst/>
                <a:latin typeface="Menlo"/>
              </a:rPr>
            </a:br>
            <a:r>
              <a:rPr kumimoji="0" lang="ru-RU" altLang="ru-RU" sz="2000" b="0" i="0" u="none" strike="noStrike" cap="none" normalizeH="0" baseline="0" dirty="0">
                <a:ln>
                  <a:noFill/>
                </a:ln>
                <a:effectLst/>
                <a:latin typeface="Menlo"/>
              </a:rPr>
              <a:t>- настроил автоматическую запись всех действий в файл taxi_log.txt;</a:t>
            </a:r>
            <a:br>
              <a:rPr kumimoji="0" lang="ru-RU" altLang="ru-RU" sz="2000" b="0" i="0" u="none" strike="noStrike" cap="none" normalizeH="0" baseline="0" dirty="0">
                <a:ln>
                  <a:noFill/>
                </a:ln>
                <a:effectLst/>
                <a:latin typeface="Menlo"/>
              </a:rPr>
            </a:br>
            <a:r>
              <a:rPr kumimoji="0" lang="ru-RU" altLang="ru-RU" sz="2000" b="0" i="0" u="none" strike="noStrike" cap="none" normalizeH="0" baseline="0" dirty="0">
                <a:ln>
                  <a:noFill/>
                </a:ln>
                <a:effectLst/>
                <a:latin typeface="Menlo"/>
              </a:rPr>
              <a:t>- оформил документацию и презентацию по ГОСТ. </a:t>
            </a:r>
            <a:br>
              <a:rPr kumimoji="0" lang="ru-RU" altLang="ru-RU" sz="2000" b="0" i="0" u="none" strike="noStrike" cap="none" normalizeH="0" baseline="0" dirty="0">
                <a:ln>
                  <a:noFill/>
                </a:ln>
                <a:effectLst/>
                <a:latin typeface="Menlo"/>
              </a:rPr>
            </a:br>
            <a:br>
              <a:rPr kumimoji="0" lang="ru-RU" altLang="ru-RU" sz="2000" b="0" i="0" u="none" strike="noStrike" cap="none" normalizeH="0" baseline="0" dirty="0">
                <a:ln>
                  <a:noFill/>
                </a:ln>
                <a:effectLst/>
                <a:latin typeface="Menlo"/>
              </a:rPr>
            </a:br>
            <a:r>
              <a:rPr kumimoji="0" lang="ru-RU" altLang="ru-RU" sz="2000" b="0" i="0" u="none" strike="noStrike" cap="none" normalizeH="0" baseline="0" dirty="0">
                <a:ln>
                  <a:noFill/>
                </a:ln>
                <a:effectLst/>
                <a:latin typeface="Menlo"/>
              </a:rPr>
              <a:t>В будущем можно добавить:</a:t>
            </a:r>
            <a:br>
              <a:rPr kumimoji="0" lang="ru-RU" altLang="ru-RU" sz="2000" b="0" i="0" u="none" strike="noStrike" cap="none" normalizeH="0" baseline="0" dirty="0">
                <a:ln>
                  <a:noFill/>
                </a:ln>
                <a:effectLst/>
                <a:latin typeface="Menlo"/>
              </a:rPr>
            </a:br>
            <a:r>
              <a:rPr kumimoji="0" lang="ru-RU" altLang="ru-RU" sz="2000" b="0" i="0" u="none" strike="noStrike" cap="none" normalizeH="0" baseline="0" dirty="0">
                <a:ln>
                  <a:noFill/>
                </a:ln>
                <a:effectLst/>
                <a:latin typeface="Menlo"/>
              </a:rPr>
              <a:t>- увеличенную карту;</a:t>
            </a:r>
            <a:br>
              <a:rPr kumimoji="0" lang="ru-RU" altLang="ru-RU" sz="2000" b="0" i="0" u="none" strike="noStrike" cap="none" normalizeH="0" baseline="0" dirty="0">
                <a:ln>
                  <a:noFill/>
                </a:ln>
                <a:effectLst/>
                <a:latin typeface="Menlo"/>
              </a:rPr>
            </a:br>
            <a:r>
              <a:rPr kumimoji="0" lang="ru-RU" altLang="ru-RU" sz="2000" b="0" i="0" u="none" strike="noStrike" cap="none" normalizeH="0" baseline="0" dirty="0">
                <a:ln>
                  <a:noFill/>
                </a:ln>
                <a:effectLst/>
                <a:latin typeface="Menlo"/>
              </a:rPr>
              <a:t>- препятствия на поле;</a:t>
            </a:r>
            <a:br>
              <a:rPr kumimoji="0" lang="ru-RU" altLang="ru-RU" sz="2000" b="0" i="0" u="none" strike="noStrike" cap="none" normalizeH="0" baseline="0" dirty="0">
                <a:ln>
                  <a:noFill/>
                </a:ln>
                <a:effectLst/>
                <a:latin typeface="Menlo"/>
              </a:rPr>
            </a:br>
            <a:r>
              <a:rPr kumimoji="0" lang="ru-RU" altLang="ru-RU" sz="2000" b="0" i="0" u="none" strike="noStrike" cap="none" normalizeH="0" baseline="0" dirty="0">
                <a:ln>
                  <a:noFill/>
                </a:ln>
                <a:effectLst/>
                <a:latin typeface="Menlo"/>
              </a:rPr>
              <a:t>- сохранение лучших результатов.</a:t>
            </a:r>
            <a:r>
              <a:rPr kumimoji="0" lang="ru-RU" altLang="ru-RU" sz="2000" b="0" i="0" u="none" strike="noStrike" cap="none" normalizeH="0" baseline="0" dirty="0">
                <a:ln>
                  <a:noFill/>
                </a:ln>
                <a:effectLst/>
              </a:rPr>
              <a:t> </a:t>
            </a:r>
            <a:endParaRPr kumimoji="0" lang="ru-RU" altLang="ru-RU" sz="20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01552169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</TotalTime>
  <Words>392</Words>
  <Application>Microsoft Office PowerPoint</Application>
  <PresentationFormat>Широкоэкранный</PresentationFormat>
  <Paragraphs>34</Paragraphs>
  <Slides>7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7</vt:i4>
      </vt:variant>
    </vt:vector>
  </HeadingPairs>
  <TitlesOfParts>
    <vt:vector size="13" baseType="lpstr">
      <vt:lpstr>Aptos</vt:lpstr>
      <vt:lpstr>Aptos Display</vt:lpstr>
      <vt:lpstr>Arial</vt:lpstr>
      <vt:lpstr>Menlo</vt:lpstr>
      <vt:lpstr>quote-cjk-patch</vt:lpstr>
      <vt:lpstr>Тема Office</vt:lpstr>
      <vt:lpstr>Государственное бюджетное профессиональное образовательное учреждение Московской области «Физико-технический колледж» (ГБПОУ МО «Физтех-колледж») </vt:lpstr>
      <vt:lpstr>Актуальность и проблема </vt:lpstr>
      <vt:lpstr> Use Case диаграмма</vt:lpstr>
      <vt:lpstr>Блок-схема</vt:lpstr>
      <vt:lpstr>Интерфейс программы</vt:lpstr>
      <vt:lpstr>Статистика и логи</vt:lpstr>
      <vt:lpstr>Заключение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дмитрий корнеев</dc:creator>
  <cp:lastModifiedBy>дмитрий корнеев</cp:lastModifiedBy>
  <cp:revision>2</cp:revision>
  <dcterms:created xsi:type="dcterms:W3CDTF">2026-04-23T21:08:08Z</dcterms:created>
  <dcterms:modified xsi:type="dcterms:W3CDTF">2026-04-23T21:33:11Z</dcterms:modified>
</cp:coreProperties>
</file>